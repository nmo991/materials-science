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Lato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7" Type="http://schemas.openxmlformats.org/officeDocument/2006/relationships/font" Target="fonts/Lat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12e840fd3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712e840fd3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712e840fd3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ed76e48f3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g2ed76e48f3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2ed76e48f3f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ed50435761_0_2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g2ed50435761_0_2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2ed50435761_0_2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ed50435761_0_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2ed50435761_0_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2ed50435761_0_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12e840fd3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712e840fd3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712e840fd3_0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ed50435761_0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2ed50435761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2ed50435761_0_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137d28f4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7137d28f4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7137d28f43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712e840fd3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712e840fd3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712e840fd3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137d28f43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7137d28f43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7137d28f43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7137d28f43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7137d28f43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7137d28f43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712e840fd3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712e840fd3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712e840fd3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712e840fd3_0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g3712e840fd3_0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712e840fd3_0_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6" name="Google Shape;16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972600" y="1763267"/>
            <a:ext cx="10250700" cy="221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972837" y="4230533"/>
            <a:ext cx="10250700" cy="721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oogle Shape;22;p3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23" name="Google Shape;23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" name="Google Shape;25;p3"/>
          <p:cNvSpPr txBox="1"/>
          <p:nvPr>
            <p:ph type="title"/>
          </p:nvPr>
        </p:nvSpPr>
        <p:spPr>
          <a:xfrm>
            <a:off x="972600" y="1763267"/>
            <a:ext cx="10251300" cy="202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" name="Google Shape;29;p4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0" name="Google Shape;30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" name="Google Shape;32;p4"/>
          <p:cNvSpPr txBox="1"/>
          <p:nvPr>
            <p:ph type="title"/>
          </p:nvPr>
        </p:nvSpPr>
        <p:spPr>
          <a:xfrm>
            <a:off x="972600" y="1758200"/>
            <a:ext cx="102516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33" name="Google Shape;33;p4"/>
          <p:cNvSpPr txBox="1"/>
          <p:nvPr>
            <p:ph idx="1" type="body"/>
          </p:nvPr>
        </p:nvSpPr>
        <p:spPr>
          <a:xfrm>
            <a:off x="972600" y="2771833"/>
            <a:ext cx="102516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" name="Google Shape;37;p5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8" name="Google Shape;38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" name="Google Shape;40;p5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41" name="Google Shape;41;p5"/>
          <p:cNvSpPr txBox="1"/>
          <p:nvPr>
            <p:ph idx="1" type="body"/>
          </p:nvPr>
        </p:nvSpPr>
        <p:spPr>
          <a:xfrm>
            <a:off x="972434" y="2771833"/>
            <a:ext cx="50325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2" type="body"/>
          </p:nvPr>
        </p:nvSpPr>
        <p:spPr>
          <a:xfrm>
            <a:off x="6191471" y="2771833"/>
            <a:ext cx="5032500" cy="3014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" name="Google Shape;46;p6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47" name="Google Shape;47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" name="Google Shape;49;p6"/>
          <p:cNvSpPr txBox="1"/>
          <p:nvPr>
            <p:ph type="title"/>
          </p:nvPr>
        </p:nvSpPr>
        <p:spPr>
          <a:xfrm>
            <a:off x="972600" y="1758200"/>
            <a:ext cx="10251300" cy="713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3" name="Google Shape;53;p7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54" name="Google Shape;54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" name="Google Shape;56;p7"/>
          <p:cNvSpPr txBox="1"/>
          <p:nvPr>
            <p:ph type="title"/>
          </p:nvPr>
        </p:nvSpPr>
        <p:spPr>
          <a:xfrm>
            <a:off x="973333" y="1758200"/>
            <a:ext cx="4401300" cy="1842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57" name="Google Shape;57;p7"/>
          <p:cNvSpPr txBox="1"/>
          <p:nvPr>
            <p:ph idx="1" type="body"/>
          </p:nvPr>
        </p:nvSpPr>
        <p:spPr>
          <a:xfrm>
            <a:off x="961633" y="3708967"/>
            <a:ext cx="4401300" cy="2130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8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61" name="Google Shape;61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8"/>
          <p:cNvSpPr txBox="1"/>
          <p:nvPr>
            <p:ph type="title"/>
          </p:nvPr>
        </p:nvSpPr>
        <p:spPr>
          <a:xfrm>
            <a:off x="972600" y="1152400"/>
            <a:ext cx="9361500" cy="3980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" name="Google Shape;67;p9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68" name="Google Shape;68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0" name="Google Shape;70;p9"/>
          <p:cNvSpPr txBox="1"/>
          <p:nvPr>
            <p:ph type="title"/>
          </p:nvPr>
        </p:nvSpPr>
        <p:spPr>
          <a:xfrm>
            <a:off x="973333" y="1758200"/>
            <a:ext cx="4401300" cy="2249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sp>
        <p:nvSpPr>
          <p:cNvPr id="71" name="Google Shape;71;p9"/>
          <p:cNvSpPr txBox="1"/>
          <p:nvPr>
            <p:ph idx="1" type="subTitle"/>
          </p:nvPr>
        </p:nvSpPr>
        <p:spPr>
          <a:xfrm>
            <a:off x="966600" y="4215367"/>
            <a:ext cx="4401300" cy="1011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2" name="Google Shape;72;p9"/>
          <p:cNvSpPr txBox="1"/>
          <p:nvPr>
            <p:ph idx="2" type="body"/>
          </p:nvPr>
        </p:nvSpPr>
        <p:spPr>
          <a:xfrm>
            <a:off x="6898967" y="1803500"/>
            <a:ext cx="4499100" cy="40341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 txBox="1"/>
          <p:nvPr>
            <p:ph idx="1" type="body"/>
          </p:nvPr>
        </p:nvSpPr>
        <p:spPr>
          <a:xfrm>
            <a:off x="966600" y="5830068"/>
            <a:ext cx="10263300" cy="614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/>
            </a:lvl1pPr>
          </a:lstStyle>
          <a:p/>
        </p:txBody>
      </p:sp>
      <p:sp>
        <p:nvSpPr>
          <p:cNvPr id="76" name="Google Shape;76;p10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11"/>
          <p:cNvGrpSpPr/>
          <p:nvPr/>
        </p:nvGrpSpPr>
        <p:grpSpPr>
          <a:xfrm>
            <a:off x="1107036" y="5558926"/>
            <a:ext cx="994316" cy="61102"/>
            <a:chOff x="4580561" y="2589004"/>
            <a:chExt cx="1064464" cy="25200"/>
          </a:xfrm>
        </p:grpSpPr>
        <p:sp>
          <p:nvSpPr>
            <p:cNvPr id="79" name="Google Shape;79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" name="Google Shape;81;p11"/>
          <p:cNvSpPr txBox="1"/>
          <p:nvPr>
            <p:ph hasCustomPrompt="1" type="title"/>
          </p:nvPr>
        </p:nvSpPr>
        <p:spPr>
          <a:xfrm>
            <a:off x="972600" y="978600"/>
            <a:ext cx="10251300" cy="1659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700"/>
              <a:buNone/>
              <a:defRPr sz="107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2" name="Google Shape;82;p11"/>
          <p:cNvSpPr txBox="1"/>
          <p:nvPr>
            <p:ph idx="1" type="body"/>
          </p:nvPr>
        </p:nvSpPr>
        <p:spPr>
          <a:xfrm>
            <a:off x="972600" y="3030517"/>
            <a:ext cx="10251300" cy="2107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1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" type="body"/>
          </p:nvPr>
        </p:nvSpPr>
        <p:spPr>
          <a:xfrm>
            <a:off x="838200" y="1825625"/>
            <a:ext cx="10515600" cy="39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1" type="ftr"/>
          </p:nvPr>
        </p:nvSpPr>
        <p:spPr>
          <a:xfrm>
            <a:off x="4038600" y="6004323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3"/>
          <p:cNvSpPr txBox="1"/>
          <p:nvPr>
            <p:ph idx="12" type="sldNum"/>
          </p:nvPr>
        </p:nvSpPr>
        <p:spPr>
          <a:xfrm>
            <a:off x="838200" y="6004323"/>
            <a:ext cx="2635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clusion" showMasterSp="0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831850" y="1656521"/>
            <a:ext cx="10515600" cy="21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mpact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831850" y="4867949"/>
            <a:ext cx="54939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26555" y="5790260"/>
            <a:ext cx="2892284" cy="577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700"/>
              <a:buFont typeface="Raleway"/>
              <a:buNone/>
              <a:defRPr b="1" sz="37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  <a:defRPr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usnistgov/alignn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nature.com/articles/s41524-021-00650-1" TargetMode="External"/><Relationship Id="rId4" Type="http://schemas.openxmlformats.org/officeDocument/2006/relationships/hyperlink" Target="https://pubs.rsc.org/en/content/articlehtml/2023/dd/d2dd00096b" TargetMode="External"/><Relationship Id="rId5" Type="http://schemas.openxmlformats.org/officeDocument/2006/relationships/hyperlink" Target="https://github.com/usnistgov/alignn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ctrTitle"/>
          </p:nvPr>
        </p:nvSpPr>
        <p:spPr>
          <a:xfrm>
            <a:off x="972600" y="1763267"/>
            <a:ext cx="10250700" cy="221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7142"/>
              <a:buFont typeface="Impact"/>
              <a:buNone/>
            </a:pPr>
            <a:r>
              <a:rPr lang="en-US"/>
              <a:t>Extracting Structural Features for Materials Property Prediction &amp; GNN</a:t>
            </a:r>
            <a:endParaRPr/>
          </a:p>
        </p:txBody>
      </p:sp>
      <p:sp>
        <p:nvSpPr>
          <p:cNvPr id="100" name="Google Shape;100;p15"/>
          <p:cNvSpPr txBox="1"/>
          <p:nvPr>
            <p:ph idx="1" type="subTitle"/>
          </p:nvPr>
        </p:nvSpPr>
        <p:spPr>
          <a:xfrm>
            <a:off x="972837" y="4230533"/>
            <a:ext cx="102507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4285"/>
              <a:buNone/>
            </a:pPr>
            <a:r>
              <a:rPr lang="en-US"/>
              <a:t>Presenter: Lai Wei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4285"/>
              <a:buNone/>
            </a:pPr>
            <a:r>
              <a:rPr lang="en-US"/>
              <a:t>lw36@email.sc.edu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4285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275300" y="133300"/>
            <a:ext cx="9395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mpact"/>
              <a:buNone/>
            </a:pPr>
            <a:r>
              <a:rPr lang="en-US"/>
              <a:t>The Challenges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mpact"/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 txBox="1"/>
          <p:nvPr/>
        </p:nvSpPr>
        <p:spPr>
          <a:xfrm>
            <a:off x="321650" y="1056825"/>
            <a:ext cx="11456700" cy="5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How can we teach a machine to understand crystal structures? They are complex, periodic, and variable in size.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A machine learning model can't look at a 3D model of a crystal and understand it. It only understands numbers arranged in vectors and matrices.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The Problem: The pymatgen Structure object is a complex, abstract representation designed for scientists.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The Solution: The feature extraction tool acts as a translator. It converts abstract concepts like "a Sodium atom bonded to a Chlorine atom" into concrete numerical data that the model can process.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275300" y="133300"/>
            <a:ext cx="9395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mpact"/>
              <a:buNone/>
            </a:pPr>
            <a:r>
              <a:rPr lang="en-US"/>
              <a:t>Approach 1: Manual Feature Engineering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mpact"/>
              <a:buNone/>
            </a:pPr>
            <a:r>
              <a:t/>
            </a:r>
            <a:endParaRPr/>
          </a:p>
        </p:txBody>
      </p:sp>
      <p:sp>
        <p:nvSpPr>
          <p:cNvPr id="114" name="Google Shape;114;p17"/>
          <p:cNvSpPr txBox="1"/>
          <p:nvPr/>
        </p:nvSpPr>
        <p:spPr>
          <a:xfrm>
            <a:off x="321650" y="1056825"/>
            <a:ext cx="11456700" cy="49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/>
              <a:t>What is Feature Engineering?</a:t>
            </a:r>
            <a:endParaRPr b="1" sz="2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/>
              <a:t>Machine learning models understand numbers, not crystal structures. The goal of feature engineering is to translate a complex material structure into a simple numerical vector (a "fingerprint").</a:t>
            </a:r>
            <a:endParaRPr sz="2100"/>
          </a:p>
          <a:p>
            <a:pPr indent="-3619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-"/>
            </a:pPr>
            <a:r>
              <a:rPr lang="en-US" sz="2100">
                <a:solidFill>
                  <a:schemeClr val="dk1"/>
                </a:solidFill>
              </a:rPr>
              <a:t>We start with a rich, complex object (a crystal structure from pymatgen).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-"/>
            </a:pPr>
            <a:r>
              <a:rPr lang="en-US" sz="2100">
                <a:solidFill>
                  <a:schemeClr val="dk1"/>
                </a:solidFill>
              </a:rPr>
              <a:t>We use our scientific knowledge to decide which features are important (e.g., atomic properties, bond lengths).</a:t>
            </a:r>
            <a:endParaRPr sz="2100">
              <a:solidFill>
                <a:schemeClr val="dk1"/>
              </a:solidFill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-"/>
            </a:pPr>
            <a:r>
              <a:rPr lang="en-US" sz="2100">
                <a:solidFill>
                  <a:schemeClr val="dk1"/>
                </a:solidFill>
              </a:rPr>
              <a:t>We calculate these features and arrange them into a fixed-length list of numbers.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This process is </a:t>
            </a:r>
            <a:r>
              <a:rPr b="1" lang="en-US" sz="2100">
                <a:solidFill>
                  <a:schemeClr val="dk1"/>
                </a:solidFill>
              </a:rPr>
              <a:t>manual</a:t>
            </a:r>
            <a:r>
              <a:rPr lang="en-US" sz="2100">
                <a:solidFill>
                  <a:schemeClr val="dk1"/>
                </a:solidFill>
              </a:rPr>
              <a:t> because a human scientist chooses which features to calculate.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[pymatgen Structure Object] -&gt; [matminer Featurizer] -&gt; [Feature Vector: (0.54, 2.1, 153.4, ...)]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275300" y="133300"/>
            <a:ext cx="11007300" cy="11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mpact"/>
              <a:buNone/>
            </a:pPr>
            <a:r>
              <a:rPr lang="en-US"/>
              <a:t>Using matminer to Describe Crystal Structures</a:t>
            </a:r>
            <a:endParaRPr/>
          </a:p>
        </p:txBody>
      </p:sp>
      <p:sp>
        <p:nvSpPr>
          <p:cNvPr id="121" name="Google Shape;121;p18"/>
          <p:cNvSpPr txBox="1"/>
          <p:nvPr/>
        </p:nvSpPr>
        <p:spPr>
          <a:xfrm>
            <a:off x="275300" y="1307500"/>
            <a:ext cx="11123700" cy="41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</a:rPr>
              <a:t>Matminer is a powerful open-source Python library designed for Materials Informatics.</a:t>
            </a:r>
            <a:endParaRPr b="1" sz="26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A Toolbox for Data Mining:</a:t>
            </a:r>
            <a:r>
              <a:rPr lang="en-US" sz="2000">
                <a:solidFill>
                  <a:schemeClr val="dk1"/>
                </a:solidFill>
              </a:rPr>
              <a:t> It provides tools for every step of the ML pipeline.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Vast Library of Featurizers:</a:t>
            </a:r>
            <a:r>
              <a:rPr lang="en-US" sz="2000">
                <a:solidFill>
                  <a:schemeClr val="dk1"/>
                </a:solidFill>
              </a:rPr>
              <a:t> It contains over 70 pre-built featurizers to describe composition, structure, and electronic properties. We don't have to code the calculations from scratch!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dk1"/>
                </a:solidFill>
              </a:rPr>
              <a:t>Seamless Integration:</a:t>
            </a:r>
            <a:r>
              <a:rPr lang="en-US" sz="2000">
                <a:solidFill>
                  <a:schemeClr val="dk1"/>
                </a:solidFill>
              </a:rPr>
              <a:t> Works perfectly with pymatgen for structure representation and pandas for data manipulation.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Data Access:</a:t>
            </a:r>
            <a:r>
              <a:rPr lang="en-US" sz="2000">
                <a:solidFill>
                  <a:schemeClr val="dk1"/>
                </a:solidFill>
              </a:rPr>
              <a:t> Includes methods to easily pull data from major materials databases like the Materials Project.</a:t>
            </a:r>
            <a:endParaRPr b="1" sz="2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321250" y="1468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mpact"/>
              <a:buNone/>
            </a:pPr>
            <a:r>
              <a:rPr lang="en-US"/>
              <a:t>Matminer</a:t>
            </a:r>
            <a:endParaRPr/>
          </a:p>
        </p:txBody>
      </p:sp>
      <p:pic>
        <p:nvPicPr>
          <p:cNvPr id="128" name="Google Shape;12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8775" y="1105700"/>
            <a:ext cx="8726001" cy="48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type="title"/>
          </p:nvPr>
        </p:nvSpPr>
        <p:spPr>
          <a:xfrm>
            <a:off x="240825" y="238775"/>
            <a:ext cx="11204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mpact"/>
              <a:buNone/>
            </a:pPr>
            <a:r>
              <a:rPr lang="en-US"/>
              <a:t>matminer in Colab</a:t>
            </a:r>
            <a:endParaRPr/>
          </a:p>
        </p:txBody>
      </p:sp>
      <p:sp>
        <p:nvSpPr>
          <p:cNvPr id="135" name="Google Shape;135;p20"/>
          <p:cNvSpPr txBox="1"/>
          <p:nvPr>
            <p:ph idx="1" type="body"/>
          </p:nvPr>
        </p:nvSpPr>
        <p:spPr>
          <a:xfrm>
            <a:off x="727525" y="1564475"/>
            <a:ext cx="10602900" cy="47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/>
              <a:t>See Colab code walkthrough.</a:t>
            </a:r>
            <a:endParaRPr b="1" sz="2000"/>
          </a:p>
          <a:p>
            <a:pPr indent="0" lvl="0" marL="0" rtl="0" algn="l">
              <a:lnSpc>
                <a:spcPct val="70000"/>
              </a:lnSpc>
              <a:spcBef>
                <a:spcPts val="1200"/>
              </a:spcBef>
              <a:spcAft>
                <a:spcPts val="160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4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/>
          <p:nvPr>
            <p:ph type="title"/>
          </p:nvPr>
        </p:nvSpPr>
        <p:spPr>
          <a:xfrm>
            <a:off x="240825" y="238775"/>
            <a:ext cx="11204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mpact"/>
              <a:buNone/>
            </a:pPr>
            <a:r>
              <a:rPr lang="en-US"/>
              <a:t>Limitations of Manual Featurization</a:t>
            </a:r>
            <a:endParaRPr/>
          </a:p>
        </p:txBody>
      </p:sp>
      <p:sp>
        <p:nvSpPr>
          <p:cNvPr id="142" name="Google Shape;142;p21"/>
          <p:cNvSpPr txBox="1"/>
          <p:nvPr>
            <p:ph idx="1" type="body"/>
          </p:nvPr>
        </p:nvSpPr>
        <p:spPr>
          <a:xfrm>
            <a:off x="441025" y="1269025"/>
            <a:ext cx="11119200" cy="47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/>
              <a:t>Time-Consuming and Labor-Intensive:</a:t>
            </a:r>
            <a:r>
              <a:rPr lang="en-US" sz="2000"/>
              <a:t> Designing, coding, and testing new features requires significant time and effort from a domain expert.</a:t>
            </a:r>
            <a:endParaRPr sz="2000"/>
          </a:p>
          <a:p>
            <a:pPr indent="0" lvl="0" marL="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/>
              <a:t>Limited by Human Imagination and Bias:</a:t>
            </a:r>
            <a:r>
              <a:rPr lang="en-US" sz="2000"/>
              <a:t> The model's performance is capped by the features a human thinks to provide. It cannot discover important patterns if the relevant features aren't included.</a:t>
            </a:r>
            <a:endParaRPr sz="2000"/>
          </a:p>
          <a:p>
            <a:pPr indent="0" lvl="0" marL="45720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/>
              <a:t>Fails to Capture Complex Interactions:</a:t>
            </a:r>
            <a:r>
              <a:rPr lang="en-US" sz="2000"/>
              <a:t> It is extremely difficult to manually design features that describe subtle, multi-atom interactions or complex geometric patterns, whereas GNNs can learn these automatically.</a:t>
            </a:r>
            <a:endParaRPr sz="2000"/>
          </a:p>
          <a:p>
            <a:pPr indent="0" lvl="0" marL="45720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marR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/>
              <a:t>Features are Often Not Transferable:</a:t>
            </a:r>
            <a:r>
              <a:rPr lang="en-US" sz="2000"/>
              <a:t> Features that are predictive for one class of materials (e.g., oxides) may not work well for another class (e.g., intermetallics).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title"/>
          </p:nvPr>
        </p:nvSpPr>
        <p:spPr>
          <a:xfrm>
            <a:off x="447625" y="2732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mpact"/>
              <a:buNone/>
            </a:pPr>
            <a:r>
              <a:rPr lang="en-US"/>
              <a:t>Approach 2: Automated Feature Learning with GNNs</a:t>
            </a:r>
            <a:endParaRPr/>
          </a:p>
        </p:txBody>
      </p:sp>
      <p:pic>
        <p:nvPicPr>
          <p:cNvPr id="149" name="Google Shape;14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6100" y="1790863"/>
            <a:ext cx="8096250" cy="431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type="title"/>
          </p:nvPr>
        </p:nvSpPr>
        <p:spPr>
          <a:xfrm>
            <a:off x="447625" y="2732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mpact"/>
              <a:buNone/>
            </a:pPr>
            <a:r>
              <a:rPr lang="en-US"/>
              <a:t>What is a Graph Neural Network (GNN)?</a:t>
            </a:r>
            <a:endParaRPr/>
          </a:p>
        </p:txBody>
      </p:sp>
      <p:sp>
        <p:nvSpPr>
          <p:cNvPr id="156" name="Google Shape;156;p23"/>
          <p:cNvSpPr txBox="1"/>
          <p:nvPr/>
        </p:nvSpPr>
        <p:spPr>
          <a:xfrm>
            <a:off x="510325" y="1423550"/>
            <a:ext cx="10515600" cy="21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Graph Neural Networks (GNNs)</a:t>
            </a:r>
            <a:r>
              <a:rPr lang="en-US" sz="1700">
                <a:solidFill>
                  <a:schemeClr val="dk1"/>
                </a:solidFill>
              </a:rPr>
              <a:t> are a class of models built to understand the complex relationships and structure within data that can be represented as a graph of nodes and edges.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</a:rPr>
              <a:t>A crystal structure is a perfect real-world example of a graph: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US" sz="1700">
                <a:solidFill>
                  <a:schemeClr val="dk1"/>
                </a:solidFill>
              </a:rPr>
              <a:t>Nodes</a:t>
            </a:r>
            <a:r>
              <a:rPr lang="en-US" sz="1700">
                <a:solidFill>
                  <a:schemeClr val="dk1"/>
                </a:solidFill>
              </a:rPr>
              <a:t> are the </a:t>
            </a:r>
            <a:r>
              <a:rPr b="1" lang="en-US" sz="1700">
                <a:solidFill>
                  <a:schemeClr val="dk1"/>
                </a:solidFill>
              </a:rPr>
              <a:t>atoms</a:t>
            </a:r>
            <a:r>
              <a:rPr lang="en-US" sz="1700">
                <a:solidFill>
                  <a:schemeClr val="dk1"/>
                </a:solidFill>
              </a:rPr>
              <a:t>. Each atom has its own properties (e.g., atomic number, electronegativity).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US" sz="1700">
                <a:solidFill>
                  <a:schemeClr val="dk1"/>
                </a:solidFill>
              </a:rPr>
              <a:t>Edges</a:t>
            </a:r>
            <a:r>
              <a:rPr lang="en-US" sz="1700">
                <a:solidFill>
                  <a:schemeClr val="dk1"/>
                </a:solidFill>
              </a:rPr>
              <a:t> are the </a:t>
            </a:r>
            <a:r>
              <a:rPr b="1" lang="en-US" sz="1700">
                <a:solidFill>
                  <a:schemeClr val="dk1"/>
                </a:solidFill>
              </a:rPr>
              <a:t>chemical bonds</a:t>
            </a:r>
            <a:r>
              <a:rPr lang="en-US" sz="1700">
                <a:solidFill>
                  <a:schemeClr val="dk1"/>
                </a:solidFill>
              </a:rPr>
              <a:t> connecting the atoms. Each bond has properties too (e.g., its length).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157" name="Google Shape;15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325" y="3904850"/>
            <a:ext cx="2785975" cy="25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73653" y="3904850"/>
            <a:ext cx="3138335" cy="258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/>
          <p:nvPr>
            <p:ph type="title"/>
          </p:nvPr>
        </p:nvSpPr>
        <p:spPr>
          <a:xfrm>
            <a:off x="447625" y="2732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mpact"/>
              <a:buNone/>
            </a:pPr>
            <a:r>
              <a:rPr lang="en-US"/>
              <a:t>How It Learns from a Crystal?</a:t>
            </a:r>
            <a:endParaRPr/>
          </a:p>
        </p:txBody>
      </p:sp>
      <p:sp>
        <p:nvSpPr>
          <p:cNvPr id="165" name="Google Shape;165;p24"/>
          <p:cNvSpPr txBox="1"/>
          <p:nvPr>
            <p:ph idx="1" type="body"/>
          </p:nvPr>
        </p:nvSpPr>
        <p:spPr>
          <a:xfrm>
            <a:off x="656125" y="1598925"/>
            <a:ext cx="10572600" cy="44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94">
                <a:highlight>
                  <a:srgbClr val="FFFFFF"/>
                </a:highlight>
              </a:rPr>
              <a:t>Converting the structure to features is the process of encoding the fundamental rules of chemistry and physics into a format the GNN can understand and learn from.</a:t>
            </a:r>
            <a:endParaRPr sz="2094">
              <a:highlight>
                <a:srgbClr val="FFFFFF"/>
              </a:highlight>
            </a:endParaRPr>
          </a:p>
          <a:p>
            <a:pPr indent="-300878" lvl="0" marL="457200" rtl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38"/>
              <a:buChar char="●"/>
            </a:pPr>
            <a:r>
              <a:rPr b="1" lang="en-US" sz="2094">
                <a:solidFill>
                  <a:srgbClr val="000000"/>
                </a:solidFill>
                <a:highlight>
                  <a:srgbClr val="FFFFFF"/>
                </a:highlight>
              </a:rPr>
              <a:t>Atoms become nodes</a:t>
            </a:r>
            <a:r>
              <a:rPr lang="en-US" sz="2094">
                <a:solidFill>
                  <a:srgbClr val="000000"/>
                </a:solidFill>
                <a:highlight>
                  <a:srgbClr val="FFFFFF"/>
                </a:highlight>
              </a:rPr>
              <a:t>: </a:t>
            </a:r>
            <a:r>
              <a:rPr lang="en-US" sz="2094">
                <a:solidFill>
                  <a:srgbClr val="000000"/>
                </a:solidFill>
                <a:highlight>
                  <a:srgbClr val="FFFFFF"/>
                </a:highlight>
              </a:rPr>
              <a:t>Each atom in the crystal is treated as a fundamental node in the network.</a:t>
            </a:r>
            <a:endParaRPr sz="2094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94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00878" lvl="0" marL="457200" rtl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38"/>
              <a:buChar char="●"/>
            </a:pPr>
            <a:r>
              <a:rPr b="1" lang="en-US" sz="2094">
                <a:solidFill>
                  <a:srgbClr val="000000"/>
                </a:solidFill>
                <a:highlight>
                  <a:srgbClr val="FFFFFF"/>
                </a:highlight>
              </a:rPr>
              <a:t>Atomic Properties become node features: </a:t>
            </a:r>
            <a:r>
              <a:rPr lang="en-US" sz="2094">
                <a:solidFill>
                  <a:srgbClr val="000000"/>
                </a:solidFill>
                <a:highlight>
                  <a:srgbClr val="FFFFFF"/>
                </a:highlight>
              </a:rPr>
              <a:t>Every atom is described by a vector of numerical features, such as its atomic number and electronegativity, that define its chemical identity.</a:t>
            </a:r>
            <a:endParaRPr sz="2094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94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00878" lvl="0" marL="457200" rtl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38"/>
              <a:buChar char="●"/>
            </a:pPr>
            <a:r>
              <a:rPr b="1" lang="en-US" sz="2094">
                <a:solidFill>
                  <a:srgbClr val="000000"/>
                </a:solidFill>
                <a:highlight>
                  <a:srgbClr val="FFFFFF"/>
                </a:highlight>
              </a:rPr>
              <a:t>Bonds become edges: </a:t>
            </a:r>
            <a:r>
              <a:rPr lang="en-US" sz="2094">
                <a:solidFill>
                  <a:srgbClr val="000000"/>
                </a:solidFill>
                <a:highlight>
                  <a:srgbClr val="FFFFFF"/>
                </a:highlight>
              </a:rPr>
              <a:t>The chemical bonds between atoms define the connections, or edges, in the network. These edges are the pathways through which atoms influence each other.</a:t>
            </a:r>
            <a:endParaRPr sz="2094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50800" lvl="0" marL="22860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6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094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094">
              <a:highlight>
                <a:srgbClr val="FFFFFF"/>
              </a:highlight>
            </a:endParaRPr>
          </a:p>
          <a:p>
            <a:pPr indent="-50800" lvl="0" marL="228600" rtl="0" algn="l">
              <a:lnSpc>
                <a:spcPct val="70000"/>
              </a:lnSpc>
              <a:spcBef>
                <a:spcPts val="1000"/>
              </a:spcBef>
              <a:spcAft>
                <a:spcPts val="1600"/>
              </a:spcAft>
              <a:buClr>
                <a:schemeClr val="dk1"/>
              </a:buClr>
              <a:buSzPts val="2380"/>
              <a:buNone/>
            </a:pPr>
            <a:r>
              <a:t/>
            </a:r>
            <a:endParaRPr sz="246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5"/>
          <p:cNvSpPr txBox="1"/>
          <p:nvPr>
            <p:ph type="title"/>
          </p:nvPr>
        </p:nvSpPr>
        <p:spPr>
          <a:xfrm>
            <a:off x="447625" y="2732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mpact"/>
              <a:buNone/>
            </a:pPr>
            <a:r>
              <a:rPr lang="en-US"/>
              <a:t>How It Learns from a Crystal?</a:t>
            </a:r>
            <a:endParaRPr/>
          </a:p>
        </p:txBody>
      </p:sp>
      <p:pic>
        <p:nvPicPr>
          <p:cNvPr id="172" name="Google Shape;17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7200" y="1348250"/>
            <a:ext cx="6697679" cy="4954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/>
          <p:nvPr>
            <p:ph type="title"/>
          </p:nvPr>
        </p:nvSpPr>
        <p:spPr>
          <a:xfrm>
            <a:off x="447625" y="2732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mpact"/>
              <a:buNone/>
            </a:pPr>
            <a:r>
              <a:rPr lang="en-US"/>
              <a:t>How It Learns from a Crystal?</a:t>
            </a:r>
            <a:endParaRPr/>
          </a:p>
        </p:txBody>
      </p:sp>
      <p:sp>
        <p:nvSpPr>
          <p:cNvPr id="179" name="Google Shape;179;p26"/>
          <p:cNvSpPr txBox="1"/>
          <p:nvPr/>
        </p:nvSpPr>
        <p:spPr>
          <a:xfrm>
            <a:off x="510325" y="1423550"/>
            <a:ext cx="10736400" cy="32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US" sz="2000">
                <a:solidFill>
                  <a:schemeClr val="dk1"/>
                </a:solidFill>
              </a:rPr>
              <a:t>Input:</a:t>
            </a:r>
            <a:r>
              <a:rPr lang="en-US" sz="2000">
                <a:solidFill>
                  <a:schemeClr val="dk1"/>
                </a:solidFill>
              </a:rPr>
              <a:t> The GNN takes the crystal graph as input, the atoms with their features and the bonds that connect them.</a:t>
            </a:r>
            <a:endParaRPr sz="20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US" sz="2000">
                <a:solidFill>
                  <a:schemeClr val="dk1"/>
                </a:solidFill>
              </a:rPr>
              <a:t>Message Passing:</a:t>
            </a:r>
            <a:r>
              <a:rPr lang="en-US" sz="2000">
                <a:solidFill>
                  <a:schemeClr val="dk1"/>
                </a:solidFill>
              </a:rPr>
              <a:t> The GNN allows each atom (node) to "talk" to its bonded neighbors, passing information along the bonds (edges). Through this process, each atom builds up a sophisticated understanding of its local chemical environment.</a:t>
            </a:r>
            <a:endParaRPr sz="2000">
              <a:solidFill>
                <a:schemeClr val="dk1"/>
              </a:solidFill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en-US" sz="2000">
                <a:solidFill>
                  <a:schemeClr val="dk1"/>
                </a:solidFill>
              </a:rPr>
              <a:t>Output:</a:t>
            </a:r>
            <a:r>
              <a:rPr lang="en-US" sz="2000">
                <a:solidFill>
                  <a:schemeClr val="dk1"/>
                </a:solidFill>
              </a:rPr>
              <a:t> After several rounds of this "message passing," the GNN aggregates all the learned information to make a single prediction about the entire crystal, such as its stability, band gap.</a:t>
            </a:r>
            <a:endParaRPr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 txBox="1"/>
          <p:nvPr>
            <p:ph type="title"/>
          </p:nvPr>
        </p:nvSpPr>
        <p:spPr>
          <a:xfrm>
            <a:off x="447625" y="2732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mpact"/>
              <a:buNone/>
            </a:pPr>
            <a:r>
              <a:rPr lang="en-US"/>
              <a:t>Training a GNN in Colab</a:t>
            </a:r>
            <a:endParaRPr/>
          </a:p>
        </p:txBody>
      </p:sp>
      <p:sp>
        <p:nvSpPr>
          <p:cNvPr id="186" name="Google Shape;186;p27"/>
          <p:cNvSpPr txBox="1"/>
          <p:nvPr/>
        </p:nvSpPr>
        <p:spPr>
          <a:xfrm>
            <a:off x="716225" y="2291975"/>
            <a:ext cx="103605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See Colab code walkthrough. Please note that this is a very simple example.  </a:t>
            </a:r>
            <a:r>
              <a:rPr lang="en-US" sz="2000">
                <a:solidFill>
                  <a:schemeClr val="dk1"/>
                </a:solidFill>
              </a:rPr>
              <a:t>While the results look perfect, it's crucial to understand their limitation. This model is heavily overfitting. In a real research project, the next steps would be to ensure the model can generalize to new data. 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</a:rPr>
              <a:t>An </a:t>
            </a:r>
            <a:r>
              <a:rPr b="1" lang="en-US" sz="2000">
                <a:solidFill>
                  <a:schemeClr val="dk1"/>
                </a:solidFill>
              </a:rPr>
              <a:t>advanced</a:t>
            </a:r>
            <a:r>
              <a:rPr b="1" lang="en-US" sz="2000">
                <a:solidFill>
                  <a:schemeClr val="dk1"/>
                </a:solidFill>
              </a:rPr>
              <a:t> model (ALIGNN) can be found in : </a:t>
            </a:r>
            <a:r>
              <a:rPr b="1" lang="en-US" sz="2000" u="sng">
                <a:solidFill>
                  <a:schemeClr val="hlink"/>
                </a:solidFill>
                <a:hlinkClick r:id="rId3"/>
              </a:rPr>
              <a:t>https://github.com/usnistgov/alignn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/>
          <p:nvPr>
            <p:ph type="title"/>
          </p:nvPr>
        </p:nvSpPr>
        <p:spPr>
          <a:xfrm>
            <a:off x="447625" y="2732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mpact"/>
              <a:buNone/>
            </a:pPr>
            <a:r>
              <a:rPr lang="en-US"/>
              <a:t>R</a:t>
            </a:r>
            <a:r>
              <a:rPr lang="en-US"/>
              <a:t>eal-word application: </a:t>
            </a:r>
            <a:r>
              <a:rPr lang="en-US"/>
              <a:t>ALIGNN</a:t>
            </a:r>
            <a:endParaRPr/>
          </a:p>
        </p:txBody>
      </p:sp>
      <p:sp>
        <p:nvSpPr>
          <p:cNvPr id="193" name="Google Shape;193;p28"/>
          <p:cNvSpPr txBox="1"/>
          <p:nvPr/>
        </p:nvSpPr>
        <p:spPr>
          <a:xfrm>
            <a:off x="447625" y="1360875"/>
            <a:ext cx="104769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2328"/>
                </a:solidFill>
                <a:highlight>
                  <a:srgbClr val="FFFFFF"/>
                </a:highlight>
              </a:rPr>
              <a:t>The Atomistic Line Graph Neural Network (</a:t>
            </a:r>
            <a:r>
              <a:rPr lang="en-US" sz="2000" u="sng">
                <a:solidFill>
                  <a:srgbClr val="0969DA"/>
                </a:solidFill>
                <a:highlight>
                  <a:srgbClr val="FFFFFF"/>
                </a:highlight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https://www.nature.com/articles/s41524-021-00650-1</a:t>
            </a:r>
            <a:r>
              <a:rPr lang="en-US" sz="2000">
                <a:solidFill>
                  <a:srgbClr val="1F2328"/>
                </a:solidFill>
                <a:highlight>
                  <a:srgbClr val="FFFFFF"/>
                </a:highlight>
              </a:rPr>
              <a:t>) introduces a new graph convolution layer that explicitly models both two and three body interactions in atomistic systems.</a:t>
            </a:r>
            <a:endParaRPr sz="20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2328"/>
                </a:solidFill>
                <a:highlight>
                  <a:srgbClr val="FFFFFF"/>
                </a:highlight>
              </a:rPr>
              <a:t>Atomisitic line graph neural network-based FF (ALIGNN-FF) (</a:t>
            </a:r>
            <a:r>
              <a:rPr lang="en-US" sz="2000" u="sng">
                <a:solidFill>
                  <a:srgbClr val="0969DA"/>
                </a:solidFill>
                <a:highlight>
                  <a:srgbClr val="FFFFFF"/>
                </a:highlight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https://pubs.rsc.org/en/content/articlehtml/2023/dd/d2dd00096b</a:t>
            </a:r>
            <a:r>
              <a:rPr lang="en-US" sz="2000">
                <a:solidFill>
                  <a:srgbClr val="1F2328"/>
                </a:solidFill>
                <a:highlight>
                  <a:srgbClr val="FFFFFF"/>
                </a:highlight>
              </a:rPr>
              <a:t>) can be used to model both structurally and chemically diverse systems with any combination of 89 elements from the periodic table, specially for structural optimization. To train the ALIGNN-FF model, we have used the JARVIS-DFT dataset which contains around 75000 materials and 4 million energy-force entries, out of which 307,113 are used in the training. These models can be further finetuned, or new models can be developed from scratch on a new dataset.</a:t>
            </a:r>
            <a:endParaRPr sz="20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F2328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1F2328"/>
                </a:solidFill>
                <a:highlight>
                  <a:srgbClr val="FFFFFF"/>
                </a:highlight>
              </a:rPr>
              <a:t>GitHub link: </a:t>
            </a:r>
            <a:r>
              <a:rPr lang="en-US" sz="2000" u="sng">
                <a:solidFill>
                  <a:srgbClr val="0969DA"/>
                </a:solidFill>
                <a:highlight>
                  <a:srgbClr val="FFFFFF"/>
                </a:highlight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https://github.com/usnistgov/alignn</a:t>
            </a:r>
            <a:endParaRPr sz="2000">
              <a:solidFill>
                <a:srgbClr val="0969D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F2328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/>
          <p:nvPr>
            <p:ph type="title"/>
          </p:nvPr>
        </p:nvSpPr>
        <p:spPr>
          <a:xfrm>
            <a:off x="838200" y="2529571"/>
            <a:ext cx="10515600" cy="21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mpact"/>
              <a:buNone/>
            </a:pPr>
            <a:r>
              <a:rPr lang="en-US"/>
              <a:t>THANKS!</a:t>
            </a:r>
            <a:endParaRPr/>
          </a:p>
        </p:txBody>
      </p:sp>
      <p:sp>
        <p:nvSpPr>
          <p:cNvPr id="199" name="Google Shape;199;p29"/>
          <p:cNvSpPr txBox="1"/>
          <p:nvPr>
            <p:ph idx="1" type="body"/>
          </p:nvPr>
        </p:nvSpPr>
        <p:spPr>
          <a:xfrm>
            <a:off x="831850" y="5498655"/>
            <a:ext cx="54939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Name: Lai Wei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Email: lw36@email.sc.edu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